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7" r:id="rId2"/>
    <p:sldId id="258" r:id="rId3"/>
    <p:sldId id="264" r:id="rId4"/>
    <p:sldId id="265" r:id="rId5"/>
    <p:sldId id="259" r:id="rId6"/>
    <p:sldId id="266" r:id="rId7"/>
    <p:sldId id="267" r:id="rId8"/>
    <p:sldId id="268" r:id="rId9"/>
    <p:sldId id="271" r:id="rId10"/>
    <p:sldId id="270" r:id="rId11"/>
    <p:sldId id="269" r:id="rId12"/>
    <p:sldId id="260" r:id="rId13"/>
    <p:sldId id="279" r:id="rId14"/>
    <p:sldId id="275" r:id="rId15"/>
    <p:sldId id="261" r:id="rId16"/>
    <p:sldId id="280" r:id="rId17"/>
    <p:sldId id="281" r:id="rId18"/>
    <p:sldId id="273" r:id="rId19"/>
    <p:sldId id="276" r:id="rId20"/>
    <p:sldId id="277" r:id="rId21"/>
    <p:sldId id="278" r:id="rId22"/>
    <p:sldId id="282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3" autoAdjust="0"/>
    <p:restoredTop sz="94660"/>
  </p:normalViewPr>
  <p:slideViewPr>
    <p:cSldViewPr snapToGrid="0">
      <p:cViewPr varScale="1">
        <p:scale>
          <a:sx n="54" d="100"/>
          <a:sy n="54" d="100"/>
        </p:scale>
        <p:origin x="66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D99EF-B5D8-43C4-B75D-A8A7DB5FF192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98EE8-ADC7-4819-A256-4F43349D6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442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D99EF-B5D8-43C4-B75D-A8A7DB5FF192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98EE8-ADC7-4819-A256-4F43349D6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070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D99EF-B5D8-43C4-B75D-A8A7DB5FF192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98EE8-ADC7-4819-A256-4F43349D6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567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D99EF-B5D8-43C4-B75D-A8A7DB5FF192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98EE8-ADC7-4819-A256-4F43349D6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531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D99EF-B5D8-43C4-B75D-A8A7DB5FF192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98EE8-ADC7-4819-A256-4F43349D6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462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D99EF-B5D8-43C4-B75D-A8A7DB5FF192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98EE8-ADC7-4819-A256-4F43349D6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7072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D99EF-B5D8-43C4-B75D-A8A7DB5FF192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98EE8-ADC7-4819-A256-4F43349D6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881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D99EF-B5D8-43C4-B75D-A8A7DB5FF192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98EE8-ADC7-4819-A256-4F43349D6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476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D99EF-B5D8-43C4-B75D-A8A7DB5FF192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98EE8-ADC7-4819-A256-4F43349D6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224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D99EF-B5D8-43C4-B75D-A8A7DB5FF192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98EE8-ADC7-4819-A256-4F43349D6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678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D99EF-B5D8-43C4-B75D-A8A7DB5FF192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98EE8-ADC7-4819-A256-4F43349D6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0964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D99EF-B5D8-43C4-B75D-A8A7DB5FF192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98EE8-ADC7-4819-A256-4F43349D6A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029355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D99EF-B5D8-43C4-B75D-A8A7DB5FF192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98EE8-ADC7-4819-A256-4F43349D6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7450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D99EF-B5D8-43C4-B75D-A8A7DB5FF192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98EE8-ADC7-4819-A256-4F43349D6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5414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D99EF-B5D8-43C4-B75D-A8A7DB5FF192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98EE8-ADC7-4819-A256-4F43349D6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6024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D99EF-B5D8-43C4-B75D-A8A7DB5FF192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98EE8-ADC7-4819-A256-4F43349D6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6862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D99EF-B5D8-43C4-B75D-A8A7DB5FF192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98EE8-ADC7-4819-A256-4F43349D6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335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299D99EF-B5D8-43C4-B75D-A8A7DB5FF192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E98EE8-ADC7-4819-A256-4F43349D6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75920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err="1" smtClean="0"/>
              <a:t>HealthConnect</a:t>
            </a:r>
            <a:r>
              <a:rPr lang="en-US" b="1" dirty="0" smtClean="0"/>
              <a:t> Clinic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489450"/>
          </a:xfrm>
        </p:spPr>
        <p:txBody>
          <a:bodyPr>
            <a:normAutofit fontScale="92500" lnSpcReduction="10000"/>
          </a:bodyPr>
          <a:lstStyle/>
          <a:p>
            <a:r>
              <a:rPr lang="en-US" sz="2400" b="1" dirty="0" smtClean="0"/>
              <a:t>Data Analytics Contribution</a:t>
            </a:r>
          </a:p>
          <a:p>
            <a:endParaRPr lang="en-US" sz="2400" b="1" dirty="0" smtClean="0"/>
          </a:p>
          <a:p>
            <a:r>
              <a:rPr lang="en-US" sz="2400" b="1" dirty="0" smtClean="0"/>
              <a:t>Project:</a:t>
            </a:r>
            <a:r>
              <a:rPr lang="en-US" sz="2400" dirty="0" smtClean="0"/>
              <a:t> </a:t>
            </a:r>
            <a:r>
              <a:rPr lang="en-US" sz="2400" dirty="0" err="1" smtClean="0"/>
              <a:t>HealthConnect</a:t>
            </a:r>
            <a:r>
              <a:rPr lang="en-US" sz="2400" dirty="0" smtClean="0"/>
              <a:t> Clinic Support Using Data and AI</a:t>
            </a:r>
            <a:br>
              <a:rPr lang="en-US" sz="2400" dirty="0" smtClean="0"/>
            </a:br>
            <a:r>
              <a:rPr lang="en-US" sz="2400" b="1" dirty="0" smtClean="0"/>
              <a:t>Track:</a:t>
            </a:r>
            <a:r>
              <a:rPr lang="en-US" sz="2400" dirty="0" smtClean="0"/>
              <a:t> Data Analytics</a:t>
            </a:r>
            <a:br>
              <a:rPr lang="en-US" sz="2400" dirty="0" smtClean="0"/>
            </a:br>
            <a:r>
              <a:rPr lang="en-US" sz="2400" b="1" dirty="0" smtClean="0"/>
              <a:t>Dataset:</a:t>
            </a:r>
            <a:r>
              <a:rPr lang="en-US" sz="2400" dirty="0" smtClean="0"/>
              <a:t> 5,000 appointment records</a:t>
            </a:r>
          </a:p>
          <a:p>
            <a:r>
              <a:rPr lang="en-US" sz="2400" b="1" dirty="0" smtClean="0"/>
              <a:t>Objective:</a:t>
            </a:r>
          </a:p>
          <a:p>
            <a:r>
              <a:rPr lang="en-US" sz="2400" dirty="0" smtClean="0"/>
              <a:t>Analyze appointment data to identify patterns associated with missed appointments and provide evidence-based insights to support better appointment management and patient support.</a:t>
            </a:r>
          </a:p>
          <a:p>
            <a:r>
              <a:rPr lang="en-US" sz="2400" b="1" dirty="0" smtClean="0"/>
              <a:t>Main Deliverable:</a:t>
            </a:r>
          </a:p>
          <a:p>
            <a:r>
              <a:rPr lang="en-US" sz="2400" b="1" dirty="0" smtClean="0"/>
              <a:t>Validated Power BI Dashboard + Analytical Findings &amp; Recommendations</a:t>
            </a:r>
            <a:endParaRPr lang="en-US" sz="2400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0481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357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Key KPI — Overall No-Show Rate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57288"/>
            <a:ext cx="10515600" cy="5443537"/>
          </a:xfrm>
        </p:spPr>
        <p:txBody>
          <a:bodyPr>
            <a:noAutofit/>
          </a:bodyPr>
          <a:lstStyle/>
          <a:p>
            <a:r>
              <a:rPr lang="en-US" sz="1800" b="1" dirty="0" smtClean="0"/>
              <a:t>48.46%</a:t>
            </a:r>
          </a:p>
          <a:p>
            <a:r>
              <a:rPr lang="en-US" sz="1800" b="1" dirty="0" smtClean="0"/>
              <a:t>Overall No-Show Rate</a:t>
            </a:r>
          </a:p>
          <a:p>
            <a:r>
              <a:rPr lang="en-US" sz="1800" b="1" dirty="0" smtClean="0"/>
              <a:t>2,423 out of 5,000 appointments were recorded as no-shows.</a:t>
            </a:r>
            <a:endParaRPr lang="en-US" sz="1800" dirty="0" smtClean="0"/>
          </a:p>
          <a:p>
            <a:r>
              <a:rPr lang="en-US" sz="1800" b="1" dirty="0" smtClean="0"/>
              <a:t>Appointment Outcomes</a:t>
            </a:r>
          </a:p>
          <a:p>
            <a:r>
              <a:rPr lang="en-US" sz="1800" b="1" dirty="0" smtClean="0"/>
              <a:t>No-Show:</a:t>
            </a:r>
            <a:r>
              <a:rPr lang="en-US" sz="1800" dirty="0" smtClean="0"/>
              <a:t> 2,423 — 48.46%</a:t>
            </a:r>
          </a:p>
          <a:p>
            <a:r>
              <a:rPr lang="en-US" sz="1800" b="1" dirty="0" smtClean="0"/>
              <a:t>Attended:</a:t>
            </a:r>
            <a:r>
              <a:rPr lang="en-US" sz="1800" dirty="0" smtClean="0"/>
              <a:t> 2,314 — 46.28%</a:t>
            </a:r>
          </a:p>
          <a:p>
            <a:r>
              <a:rPr lang="en-US" sz="1800" b="1" dirty="0" smtClean="0"/>
              <a:t>Cancelled:</a:t>
            </a:r>
            <a:r>
              <a:rPr lang="en-US" sz="1800" dirty="0" smtClean="0"/>
              <a:t> 263 — 5.26%</a:t>
            </a:r>
          </a:p>
          <a:p>
            <a:r>
              <a:rPr lang="en-US" sz="1800" b="1" dirty="0" smtClean="0"/>
              <a:t>Key Message</a:t>
            </a:r>
          </a:p>
          <a:p>
            <a:r>
              <a:rPr lang="en-US" sz="1800" dirty="0" smtClean="0"/>
              <a:t>Almost half of the appointments in the analyzed dataset were recorded as no-shows, making missed appointments an important operational issue for </a:t>
            </a:r>
            <a:r>
              <a:rPr lang="en-US" sz="1800" dirty="0" err="1" smtClean="0"/>
              <a:t>HealthConnect</a:t>
            </a:r>
            <a:r>
              <a:rPr lang="en-US" sz="1800" dirty="0" smtClean="0"/>
              <a:t> Clinic.</a:t>
            </a:r>
          </a:p>
          <a:p>
            <a:r>
              <a:rPr lang="en-US" sz="1800" b="1" dirty="0" smtClean="0"/>
              <a:t>Validation:</a:t>
            </a:r>
            <a:r>
              <a:rPr lang="en-US" sz="1800" dirty="0" smtClean="0"/>
              <a:t> Power BI result independently checked against Excel during Week 7.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694710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90319"/>
          </a:xfrm>
        </p:spPr>
        <p:txBody>
          <a:bodyPr/>
          <a:lstStyle/>
          <a:p>
            <a:r>
              <a:rPr lang="en-US" dirty="0"/>
              <a:t>Overall No-Show Rate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0" y="1814512"/>
            <a:ext cx="9572625" cy="4314826"/>
          </a:xfrm>
        </p:spPr>
      </p:pic>
    </p:spTree>
    <p:extLst>
      <p:ext uri="{BB962C8B-B14F-4D97-AF65-F5344CB8AC3E}">
        <p14:creationId xmlns:p14="http://schemas.microsoft.com/office/powerpoint/2010/main" val="30946364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1 — Overall No-Show Rate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46088" y="1211074"/>
            <a:ext cx="10883900" cy="52219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finding: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 overall no-show rate is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48.46%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meaning almost half of the recorded appointments resulted in a no-show.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 it matters: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en-US" sz="1800" dirty="0"/>
              <a:t>Missed appointments are a significant issue for </a:t>
            </a:r>
            <a:r>
              <a:rPr lang="en-US" sz="1800" dirty="0" err="1"/>
              <a:t>HealthConnect</a:t>
            </a:r>
            <a:r>
              <a:rPr lang="en-US" sz="1800" dirty="0"/>
              <a:t> Clinic and may affect clinic efficiency, patient support and the use of available appointment capacity</a:t>
            </a:r>
            <a:r>
              <a:rPr lang="en-US" sz="1800" dirty="0" smtClean="0"/>
              <a:t>.</a:t>
            </a:r>
          </a:p>
          <a:p>
            <a:pPr marL="0" indent="0">
              <a:buNone/>
            </a:pPr>
            <a:endParaRPr lang="en-US" sz="1800" dirty="0"/>
          </a:p>
          <a:p>
            <a:r>
              <a:rPr lang="en-US" sz="1800" b="1" dirty="0"/>
              <a:t>Recommended Action</a:t>
            </a:r>
            <a:endParaRPr lang="en-US" sz="1800" dirty="0"/>
          </a:p>
          <a:p>
            <a:r>
              <a:rPr lang="en-US" sz="1800" dirty="0" err="1"/>
              <a:t>HealthConnect</a:t>
            </a:r>
            <a:r>
              <a:rPr lang="en-US" sz="1800" dirty="0"/>
              <a:t> should focus on early identification of patients at higher risk of missing appointments and use targeted reminders and follow-up support to reduce no-shows.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3936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20712"/>
          </a:xfrm>
        </p:spPr>
        <p:txBody>
          <a:bodyPr/>
          <a:lstStyle/>
          <a:p>
            <a:pPr algn="ctr"/>
            <a:r>
              <a:rPr lang="en-US" dirty="0" smtClean="0"/>
              <a:t>Key No-Show Patterns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5864"/>
            <a:ext cx="10515600" cy="5372099"/>
          </a:xfrm>
        </p:spPr>
        <p:txBody>
          <a:bodyPr>
            <a:noAutofit/>
          </a:bodyPr>
          <a:lstStyle/>
          <a:p>
            <a:r>
              <a:rPr lang="en-US" sz="1400" b="1" dirty="0" smtClean="0"/>
              <a:t>1. Booking Lead Time</a:t>
            </a:r>
          </a:p>
          <a:p>
            <a:r>
              <a:rPr lang="en-US" sz="1400" dirty="0" smtClean="0"/>
              <a:t>No-show rates increased as appointments were booked further in advance:</a:t>
            </a:r>
          </a:p>
          <a:p>
            <a:r>
              <a:rPr lang="en-US" sz="1400" b="1" dirty="0" smtClean="0"/>
              <a:t>0–7 days:</a:t>
            </a:r>
            <a:r>
              <a:rPr lang="en-US" sz="1400" dirty="0" smtClean="0"/>
              <a:t> 27.81%</a:t>
            </a:r>
          </a:p>
          <a:p>
            <a:r>
              <a:rPr lang="en-US" sz="1400" b="1" dirty="0" smtClean="0"/>
              <a:t>8–14 days:</a:t>
            </a:r>
            <a:r>
              <a:rPr lang="en-US" sz="1400" dirty="0" smtClean="0"/>
              <a:t> 33.55%</a:t>
            </a:r>
          </a:p>
          <a:p>
            <a:r>
              <a:rPr lang="en-US" sz="1400" b="1" dirty="0" smtClean="0"/>
              <a:t>15–30 days:</a:t>
            </a:r>
            <a:r>
              <a:rPr lang="en-US" sz="1400" dirty="0" smtClean="0"/>
              <a:t> 43.21%</a:t>
            </a:r>
          </a:p>
          <a:p>
            <a:r>
              <a:rPr lang="en-US" sz="1400" b="1" dirty="0" smtClean="0"/>
              <a:t>30–60 days:</a:t>
            </a:r>
            <a:r>
              <a:rPr lang="en-US" sz="1400" dirty="0" smtClean="0"/>
              <a:t> 60.49%</a:t>
            </a:r>
          </a:p>
          <a:p>
            <a:r>
              <a:rPr lang="en-US" sz="1400" b="1" dirty="0" smtClean="0"/>
              <a:t>2. Previous No-Show History</a:t>
            </a:r>
          </a:p>
          <a:p>
            <a:r>
              <a:rPr lang="en-US" sz="1400" dirty="0" smtClean="0"/>
              <a:t>Patients with previous no-show history showed higher subsequent no-show rates.</a:t>
            </a:r>
          </a:p>
          <a:p>
            <a:r>
              <a:rPr lang="en-US" sz="1400" b="1" dirty="0" smtClean="0"/>
              <a:t>3. Reminder Status</a:t>
            </a:r>
          </a:p>
          <a:p>
            <a:r>
              <a:rPr lang="en-US" sz="1400" b="1" dirty="0" smtClean="0"/>
              <a:t>Reminder sent:</a:t>
            </a:r>
            <a:r>
              <a:rPr lang="en-US" sz="1400" dirty="0" smtClean="0"/>
              <a:t> 47.36%</a:t>
            </a:r>
          </a:p>
          <a:p>
            <a:r>
              <a:rPr lang="en-US" sz="1400" b="1" dirty="0" smtClean="0"/>
              <a:t>No reminder:</a:t>
            </a:r>
            <a:r>
              <a:rPr lang="en-US" sz="1400" dirty="0" smtClean="0"/>
              <a:t> 51.39%</a:t>
            </a:r>
          </a:p>
          <a:p>
            <a:r>
              <a:rPr lang="en-US" sz="1400" b="1" dirty="0" smtClean="0"/>
              <a:t>Difference:</a:t>
            </a:r>
            <a:r>
              <a:rPr lang="en-US" sz="1400" dirty="0" smtClean="0"/>
              <a:t> 4.03 percentage points</a:t>
            </a:r>
          </a:p>
          <a:p>
            <a:r>
              <a:rPr lang="en-US" sz="1400" b="1" dirty="0" smtClean="0"/>
              <a:t>Key Finding</a:t>
            </a:r>
          </a:p>
          <a:p>
            <a:r>
              <a:rPr lang="en-US" sz="1400" b="1" dirty="0" smtClean="0"/>
              <a:t>Booking lead time and previous no-show history showed important associations with missed appointments, while reminder activity was associated with a lower no-show rate.</a:t>
            </a:r>
            <a:endParaRPr lang="en-US" sz="1400" dirty="0" smtClean="0"/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582563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004607"/>
          </a:xfrm>
        </p:spPr>
        <p:txBody>
          <a:bodyPr/>
          <a:lstStyle/>
          <a:p>
            <a:r>
              <a:rPr lang="en-US" dirty="0"/>
              <a:t>Previous No-Show History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1890" y="1685925"/>
            <a:ext cx="7867898" cy="5014913"/>
          </a:xfrm>
        </p:spPr>
      </p:pic>
    </p:spTree>
    <p:extLst>
      <p:ext uri="{BB962C8B-B14F-4D97-AF65-F5344CB8AC3E}">
        <p14:creationId xmlns:p14="http://schemas.microsoft.com/office/powerpoint/2010/main" val="8409834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slide </a:t>
            </a:r>
            <a:r>
              <a:rPr lang="en-US" dirty="0"/>
              <a:t>2 — Previous No-Show History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774699" y="1363095"/>
            <a:ext cx="10583864" cy="5175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Finding: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en-US" sz="1800" dirty="0"/>
              <a:t>Patients with a history of previous no-shows had higher current no-show rates. The rate increased from </a:t>
            </a:r>
            <a:r>
              <a:rPr lang="en-US" sz="1800" b="1" dirty="0"/>
              <a:t>43.5% for patients with no previous no-shows</a:t>
            </a:r>
            <a:r>
              <a:rPr lang="en-US" sz="1800" dirty="0"/>
              <a:t> to approximately </a:t>
            </a:r>
            <a:r>
              <a:rPr lang="en-US" sz="1800" b="1" dirty="0"/>
              <a:t>61% for patients with two or more previous no-shows</a:t>
            </a:r>
            <a:r>
              <a:rPr lang="en-US" sz="1800" dirty="0"/>
              <a:t>.</a:t>
            </a:r>
          </a:p>
          <a:p>
            <a:r>
              <a:rPr lang="en-US" sz="1800" b="1" dirty="0"/>
              <a:t>What this means</a:t>
            </a:r>
            <a:endParaRPr lang="en-US" sz="1800" dirty="0"/>
          </a:p>
          <a:p>
            <a:r>
              <a:rPr lang="en-US" sz="1800" dirty="0"/>
              <a:t>Previous attendance </a:t>
            </a:r>
            <a:r>
              <a:rPr lang="en-US" sz="1800" dirty="0" smtClean="0"/>
              <a:t>behavior </a:t>
            </a:r>
            <a:r>
              <a:rPr lang="en-US" sz="1800" dirty="0"/>
              <a:t>can be used as an important indicator when identifying patients who may need additional appointment support</a:t>
            </a:r>
            <a:r>
              <a:rPr lang="en-US" sz="1800" dirty="0" smtClean="0"/>
              <a:t>.</a:t>
            </a:r>
          </a:p>
          <a:p>
            <a:endParaRPr lang="en-US" sz="1800" dirty="0"/>
          </a:p>
          <a:p>
            <a:r>
              <a:rPr lang="en-US" sz="1800" b="1" dirty="0"/>
              <a:t>Recommended Action</a:t>
            </a:r>
            <a:endParaRPr lang="en-US" sz="1800" dirty="0"/>
          </a:p>
          <a:p>
            <a:r>
              <a:rPr lang="en-US" sz="1800" dirty="0" err="1"/>
              <a:t>HealthConnect</a:t>
            </a:r>
            <a:r>
              <a:rPr lang="en-US" sz="1800" dirty="0"/>
              <a:t> could use previous no-show history to provide </a:t>
            </a:r>
            <a:r>
              <a:rPr lang="en-US" sz="1800" b="1" dirty="0"/>
              <a:t>targeted reminders and follow-up support</a:t>
            </a:r>
            <a:r>
              <a:rPr lang="en-US" sz="1800" dirty="0"/>
              <a:t> for patients with repeated missed appointments.</a:t>
            </a:r>
          </a:p>
          <a:p>
            <a:pPr marL="0" indent="0">
              <a:buNone/>
            </a:pPr>
            <a:endParaRPr lang="en-US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18680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slide </a:t>
            </a:r>
            <a:r>
              <a:rPr lang="en-US" dirty="0"/>
              <a:t>3 — Booking Lead Time and Reminders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03312" y="1765390"/>
            <a:ext cx="10754391" cy="477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finding: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en-US" sz="1800" dirty="0"/>
              <a:t>No-show rates increased as the time between booking and the appointment became longer. The highest no-show rate was for appointments booked </a:t>
            </a:r>
            <a:r>
              <a:rPr lang="en-US" sz="1800" b="1" dirty="0"/>
              <a:t>31–60 days in advance</a:t>
            </a:r>
            <a:r>
              <a:rPr lang="en-US" sz="1800" dirty="0"/>
              <a:t>.</a:t>
            </a:r>
          </a:p>
          <a:p>
            <a:r>
              <a:rPr lang="en-US" sz="1800" dirty="0"/>
              <a:t>Reminder messages were associated with slightly lower no-show rates across the lead-time groups.</a:t>
            </a:r>
          </a:p>
          <a:p>
            <a:r>
              <a:rPr lang="en-US" sz="1800" b="1" dirty="0"/>
              <a:t>What this means</a:t>
            </a:r>
            <a:endParaRPr lang="en-US" sz="1800" dirty="0"/>
          </a:p>
          <a:p>
            <a:r>
              <a:rPr lang="en-US" sz="1800" dirty="0"/>
              <a:t>Patients with appointments booked further in advance may need additional reminders because there is more time for plans to change or appointments to be forgotten.</a:t>
            </a:r>
          </a:p>
          <a:p>
            <a:r>
              <a:rPr lang="en-US" sz="1800" b="1" dirty="0"/>
              <a:t>Recommended Action</a:t>
            </a:r>
            <a:endParaRPr lang="en-US" sz="1800" dirty="0"/>
          </a:p>
          <a:p>
            <a:r>
              <a:rPr lang="en-US" sz="1800" dirty="0" err="1"/>
              <a:t>HealthConnect</a:t>
            </a:r>
            <a:r>
              <a:rPr lang="en-US" sz="1800" dirty="0"/>
              <a:t> should consider </a:t>
            </a:r>
            <a:r>
              <a:rPr lang="en-US" sz="1800" b="1" dirty="0"/>
              <a:t>earlier and follow-up reminders</a:t>
            </a:r>
            <a:r>
              <a:rPr lang="en-US" sz="1800" dirty="0"/>
              <a:t>, particularly for appointments booked several weeks in advance.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01669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290357"/>
          </a:xfrm>
        </p:spPr>
        <p:txBody>
          <a:bodyPr/>
          <a:lstStyle/>
          <a:p>
            <a:r>
              <a:rPr lang="en-US" dirty="0" smtClean="0"/>
              <a:t>slide </a:t>
            </a:r>
            <a:r>
              <a:rPr lang="en-US" dirty="0"/>
              <a:t>3 — Booking Lead Time and Reminders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7338" y="2028824"/>
            <a:ext cx="8493496" cy="4543425"/>
          </a:xfrm>
        </p:spPr>
      </p:pic>
    </p:spTree>
    <p:extLst>
      <p:ext uri="{BB962C8B-B14F-4D97-AF65-F5344CB8AC3E}">
        <p14:creationId xmlns:p14="http://schemas.microsoft.com/office/powerpoint/2010/main" val="6539797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4 — No-Show Rate by Age Group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1613" y="2052637"/>
            <a:ext cx="9115425" cy="4491037"/>
          </a:xfrm>
        </p:spPr>
      </p:pic>
    </p:spTree>
    <p:extLst>
      <p:ext uri="{BB962C8B-B14F-4D97-AF65-F5344CB8AC3E}">
        <p14:creationId xmlns:p14="http://schemas.microsoft.com/office/powerpoint/2010/main" val="34783587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4 — No-Show Rate by Age Group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60450" y="2037914"/>
            <a:ext cx="10298113" cy="49552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Finding: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en-US" sz="1600" dirty="0"/>
              <a:t>No-show rates were relatively similar across most age groups, ranging from approximately </a:t>
            </a:r>
            <a:r>
              <a:rPr lang="en-US" sz="1600" b="1" dirty="0"/>
              <a:t>45% to 51%</a:t>
            </a:r>
            <a:r>
              <a:rPr lang="en-US" sz="1600" dirty="0"/>
              <a:t>.</a:t>
            </a:r>
          </a:p>
          <a:p>
            <a:r>
              <a:rPr lang="en-US" sz="1600" dirty="0"/>
              <a:t>The </a:t>
            </a:r>
            <a:r>
              <a:rPr lang="en-US" sz="1600" b="1" dirty="0"/>
              <a:t>65+ age group had the lowest no-show rate at 45.12%</a:t>
            </a:r>
            <a:r>
              <a:rPr lang="en-US" sz="1600" dirty="0"/>
              <a:t>, while the </a:t>
            </a:r>
            <a:r>
              <a:rPr lang="en-US" sz="1600" b="1" dirty="0"/>
              <a:t>55–64 age group had a higher rate of 50.75%</a:t>
            </a:r>
            <a:r>
              <a:rPr lang="en-US" sz="1600" dirty="0"/>
              <a:t>.</a:t>
            </a:r>
          </a:p>
          <a:p>
            <a:r>
              <a:rPr lang="en-US" sz="1600" b="1" dirty="0"/>
              <a:t>What this means</a:t>
            </a:r>
            <a:endParaRPr lang="en-US" sz="1600" dirty="0"/>
          </a:p>
          <a:p>
            <a:r>
              <a:rPr lang="en-US" sz="1600" dirty="0"/>
              <a:t>Age alone does not show a strong enough pattern to be the main factor for predicting missed appointments.</a:t>
            </a:r>
          </a:p>
          <a:p>
            <a:r>
              <a:rPr lang="en-US" sz="1600" b="1" dirty="0"/>
              <a:t>Recommended Action</a:t>
            </a:r>
            <a:endParaRPr lang="en-US" sz="1600" dirty="0"/>
          </a:p>
          <a:p>
            <a:r>
              <a:rPr lang="en-US" sz="1600" dirty="0" err="1"/>
              <a:t>HealthConnect</a:t>
            </a:r>
            <a:r>
              <a:rPr lang="en-US" sz="1600" dirty="0"/>
              <a:t> should avoid relying on age alone when identifying patients who may miss appointments. Other factors, particularly </a:t>
            </a:r>
            <a:r>
              <a:rPr lang="en-US" sz="1600" b="1" dirty="0"/>
              <a:t>previous no-show history and booking lead time</a:t>
            </a:r>
            <a:r>
              <a:rPr lang="en-US" sz="1600" dirty="0"/>
              <a:t>, should receive greater attention.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43844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3588"/>
          </a:xfrm>
        </p:spPr>
        <p:txBody>
          <a:bodyPr/>
          <a:lstStyle/>
          <a:p>
            <a:r>
              <a:rPr lang="en-US" dirty="0" smtClean="0"/>
              <a:t>Business Insights &amp; Recommendations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71600"/>
            <a:ext cx="10515600" cy="5229225"/>
          </a:xfrm>
        </p:spPr>
        <p:txBody>
          <a:bodyPr>
            <a:noAutofit/>
          </a:bodyPr>
          <a:lstStyle/>
          <a:p>
            <a:r>
              <a:rPr lang="en-US" sz="1400" b="1" dirty="0" smtClean="0"/>
              <a:t>What the Data Shows</a:t>
            </a:r>
            <a:endParaRPr lang="en-US" sz="1400" dirty="0" smtClean="0"/>
          </a:p>
          <a:p>
            <a:r>
              <a:rPr lang="en-US" sz="1400" dirty="0"/>
              <a:t>Missed appointments represented </a:t>
            </a:r>
            <a:r>
              <a:rPr lang="en-US" sz="1400" b="1" dirty="0"/>
              <a:t>48.46%</a:t>
            </a:r>
            <a:r>
              <a:rPr lang="en-US" sz="1400" dirty="0"/>
              <a:t> of the </a:t>
            </a:r>
            <a:r>
              <a:rPr lang="en-US" sz="1400" dirty="0" smtClean="0"/>
              <a:t>analyzed </a:t>
            </a:r>
            <a:r>
              <a:rPr lang="en-US" sz="1400" dirty="0"/>
              <a:t>appointments.</a:t>
            </a:r>
          </a:p>
          <a:p>
            <a:r>
              <a:rPr lang="en-US" sz="1400" dirty="0"/>
              <a:t>Longer booking lead times were associated with higher no-show rates.</a:t>
            </a:r>
          </a:p>
          <a:p>
            <a:r>
              <a:rPr lang="en-US" sz="1400" dirty="0"/>
              <a:t>Previous no-show history was associated with higher future no-show rates.</a:t>
            </a:r>
          </a:p>
          <a:p>
            <a:r>
              <a:rPr lang="en-US" sz="1400" dirty="0"/>
              <a:t>Appointments with recorded reminders had a lower no-show rate than appointments without reminders.</a:t>
            </a:r>
          </a:p>
          <a:p>
            <a:r>
              <a:rPr lang="en-US" sz="1400" b="1" dirty="0"/>
              <a:t>Recommended Actions</a:t>
            </a:r>
          </a:p>
          <a:p>
            <a:r>
              <a:rPr lang="en-US" sz="1400" b="1" dirty="0"/>
              <a:t>1. Monitor No-Show KPIs</a:t>
            </a: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/>
              <a:t>Use the Power BI dashboard to regularly monitor appointment outcomes.</a:t>
            </a:r>
          </a:p>
          <a:p>
            <a:r>
              <a:rPr lang="en-US" sz="1400" b="1" dirty="0"/>
              <a:t>2. Strengthen Follow-Up</a:t>
            </a: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/>
              <a:t>Consider additional reminders for appointments booked further in advance.</a:t>
            </a:r>
          </a:p>
          <a:p>
            <a:r>
              <a:rPr lang="en-US" sz="1400" b="1" dirty="0"/>
              <a:t>3. </a:t>
            </a:r>
            <a:r>
              <a:rPr lang="en-US" sz="1400" b="1" dirty="0" smtClean="0"/>
              <a:t>Priorities </a:t>
            </a:r>
            <a:r>
              <a:rPr lang="en-US" sz="1400" b="1" dirty="0"/>
              <a:t>Higher-Risk Appointments</a:t>
            </a: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/>
              <a:t>Use previous appointment </a:t>
            </a:r>
            <a:r>
              <a:rPr lang="en-US" sz="1400" dirty="0" smtClean="0"/>
              <a:t>behavior </a:t>
            </a:r>
            <a:r>
              <a:rPr lang="en-US" sz="1400" dirty="0"/>
              <a:t>as one factor when </a:t>
            </a:r>
            <a:r>
              <a:rPr lang="en-US" sz="1400" dirty="0" smtClean="0"/>
              <a:t>prioritizing </a:t>
            </a:r>
            <a:r>
              <a:rPr lang="en-US" sz="1400" dirty="0"/>
              <a:t>follow-up.</a:t>
            </a:r>
          </a:p>
          <a:p>
            <a:r>
              <a:rPr lang="en-US" sz="1400" b="1" dirty="0"/>
              <a:t>4. Use Data for Decision Support</a:t>
            </a: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/>
              <a:t>Combine the analytics findings with the predictive modelling work to support proactive appointment management.</a:t>
            </a:r>
          </a:p>
          <a:p>
            <a:r>
              <a:rPr lang="en-US" sz="1400" b="1" dirty="0"/>
              <a:t>Business Value</a:t>
            </a:r>
          </a:p>
          <a:p>
            <a:r>
              <a:rPr lang="en-US" sz="1400" b="1" dirty="0"/>
              <a:t>Better use of appointment data → targeted follow-up → improved appointment mana</a:t>
            </a:r>
            <a:r>
              <a:rPr lang="en-US" sz="1200" b="1" dirty="0"/>
              <a:t>gement</a:t>
            </a:r>
            <a:endParaRPr lang="en-US" sz="1200" dirty="0"/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929649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18857"/>
          </a:xfrm>
        </p:spPr>
        <p:txBody>
          <a:bodyPr/>
          <a:lstStyle/>
          <a:p>
            <a:r>
              <a:rPr lang="en-US" dirty="0"/>
              <a:t>Week 7 → Week 8 </a:t>
            </a:r>
            <a:r>
              <a:rPr lang="en-US" dirty="0" smtClean="0"/>
              <a:t>Transition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1557338"/>
            <a:ext cx="8946541" cy="4691061"/>
          </a:xfrm>
        </p:spPr>
        <p:txBody>
          <a:bodyPr>
            <a:normAutofit fontScale="40000" lnSpcReduction="20000"/>
          </a:bodyPr>
          <a:lstStyle/>
          <a:p>
            <a:r>
              <a:rPr lang="en-US" sz="3800" b="1" dirty="0"/>
              <a:t>Main Week 7 Output</a:t>
            </a:r>
            <a:r>
              <a:rPr lang="en-US" sz="3800" dirty="0"/>
              <a:t/>
            </a:r>
            <a:br>
              <a:rPr lang="en-US" sz="3800" dirty="0"/>
            </a:br>
            <a:r>
              <a:rPr lang="en-US" sz="3800" dirty="0"/>
              <a:t>Validated the </a:t>
            </a:r>
            <a:r>
              <a:rPr lang="en-US" sz="3800" dirty="0" err="1"/>
              <a:t>HealthConnect</a:t>
            </a:r>
            <a:r>
              <a:rPr lang="en-US" sz="3800" dirty="0"/>
              <a:t> Data Analytics dashboard, KPIs and key no-show findings.</a:t>
            </a:r>
          </a:p>
          <a:p>
            <a:r>
              <a:rPr lang="en-US" sz="3800" b="1" dirty="0"/>
              <a:t>Testing Result</a:t>
            </a:r>
            <a:r>
              <a:rPr lang="en-US" sz="3800" dirty="0"/>
              <a:t/>
            </a:r>
            <a:br>
              <a:rPr lang="en-US" sz="3800" dirty="0"/>
            </a:br>
            <a:r>
              <a:rPr lang="en-US" sz="3800" dirty="0"/>
              <a:t>The overall no-show rate and key analytical results were checked against independent Excel calculations and were consistent.</a:t>
            </a:r>
          </a:p>
          <a:p>
            <a:r>
              <a:rPr lang="en-US" sz="3800" b="1" dirty="0"/>
              <a:t>Issue Identified</a:t>
            </a:r>
            <a:r>
              <a:rPr lang="en-US" sz="3800" dirty="0"/>
              <a:t/>
            </a:r>
            <a:br>
              <a:rPr lang="en-US" sz="3800" dirty="0"/>
            </a:br>
            <a:r>
              <a:rPr lang="en-US" sz="3800" dirty="0"/>
              <a:t>Very high percentages in smaller groups require caution because small sample sizes can affect interpretation.</a:t>
            </a:r>
          </a:p>
          <a:p>
            <a:r>
              <a:rPr lang="en-US" sz="3800" b="1" dirty="0"/>
              <a:t>Refinement</a:t>
            </a:r>
            <a:r>
              <a:rPr lang="en-US" sz="3800" dirty="0"/>
              <a:t/>
            </a:r>
            <a:br>
              <a:rPr lang="en-US" sz="3800" dirty="0"/>
            </a:br>
            <a:r>
              <a:rPr lang="en-US" sz="3800" dirty="0"/>
              <a:t>Added clearer interpretation guidance and strengthened the validation of key dashboard outputs.</a:t>
            </a:r>
          </a:p>
          <a:p>
            <a:r>
              <a:rPr lang="en-US" sz="3800" b="1" dirty="0"/>
              <a:t>Ready for Integration</a:t>
            </a:r>
            <a:r>
              <a:rPr lang="en-US" sz="3800" dirty="0"/>
              <a:t/>
            </a:r>
            <a:br>
              <a:rPr lang="en-US" sz="3800" dirty="0"/>
            </a:br>
            <a:r>
              <a:rPr lang="en-US" sz="3800" dirty="0"/>
              <a:t>The validated analytics findings and dashboard outputs are ready to support the final </a:t>
            </a:r>
            <a:r>
              <a:rPr lang="en-US" sz="3800" dirty="0" err="1"/>
              <a:t>HealthConnect</a:t>
            </a:r>
            <a:r>
              <a:rPr lang="en-US" sz="3800" dirty="0"/>
              <a:t> solution.</a:t>
            </a:r>
          </a:p>
          <a:p>
            <a:r>
              <a:rPr lang="en-US" sz="3800" b="1" dirty="0"/>
              <a:t>Still to Integrate</a:t>
            </a:r>
            <a:r>
              <a:rPr lang="en-US" sz="3800" dirty="0"/>
              <a:t/>
            </a:r>
            <a:br>
              <a:rPr lang="en-US" sz="3800" dirty="0"/>
            </a:br>
            <a:r>
              <a:rPr lang="en-US" sz="3800" dirty="0"/>
              <a:t>The analytics findings need to be connected with the Data Science, ML Engineering, </a:t>
            </a:r>
            <a:r>
              <a:rPr lang="en-US" sz="3800" dirty="0" smtClean="0"/>
              <a:t>Gen AI </a:t>
            </a:r>
            <a:r>
              <a:rPr lang="en-US" sz="3800" dirty="0"/>
              <a:t>and Project Management components.</a:t>
            </a:r>
          </a:p>
          <a:p>
            <a:r>
              <a:rPr lang="en-US" sz="3800" b="1" dirty="0"/>
              <a:t>Final Presentation Goal</a:t>
            </a:r>
            <a:r>
              <a:rPr lang="en-US" sz="3800" dirty="0"/>
              <a:t/>
            </a:r>
            <a:br>
              <a:rPr lang="en-US" sz="3800" dirty="0"/>
            </a:br>
            <a:r>
              <a:rPr lang="en-US" sz="3800" dirty="0"/>
              <a:t>Demonstrate how validated analytics findings contribute to the integrated </a:t>
            </a:r>
            <a:r>
              <a:rPr lang="en-US" sz="3800" dirty="0" err="1"/>
              <a:t>HealthConnect</a:t>
            </a:r>
            <a:r>
              <a:rPr lang="en-US" sz="3800" dirty="0"/>
              <a:t> decision-support solution.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66269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033182"/>
          </a:xfrm>
        </p:spPr>
        <p:txBody>
          <a:bodyPr/>
          <a:lstStyle/>
          <a:p>
            <a:r>
              <a:rPr lang="en-US" dirty="0"/>
              <a:t>Testing &amp;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1800226"/>
            <a:ext cx="8946541" cy="4448174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What was tested</a:t>
            </a:r>
            <a:endParaRPr lang="en-US" dirty="0"/>
          </a:p>
          <a:p>
            <a:r>
              <a:rPr lang="en-US" dirty="0"/>
              <a:t>Overall no-show rate</a:t>
            </a:r>
          </a:p>
          <a:p>
            <a:r>
              <a:rPr lang="en-US" dirty="0"/>
              <a:t>Key Power BI calculations and visuals</a:t>
            </a:r>
          </a:p>
          <a:p>
            <a:r>
              <a:rPr lang="en-US" dirty="0"/>
              <a:t>Dashboard interactions and filters</a:t>
            </a:r>
          </a:p>
          <a:p>
            <a:r>
              <a:rPr lang="en-US" dirty="0"/>
              <a:t>Week 6 findings against independent Excel calculations</a:t>
            </a:r>
          </a:p>
          <a:p>
            <a:r>
              <a:rPr lang="en-US" b="1" dirty="0"/>
              <a:t>Result</a:t>
            </a:r>
            <a:endParaRPr lang="en-US" dirty="0"/>
          </a:p>
          <a:p>
            <a:r>
              <a:rPr lang="en-US" dirty="0"/>
              <a:t>The validated calculations matched the independent Excel results, and no calculation errors were identified in the tested measures.</a:t>
            </a:r>
          </a:p>
          <a:p>
            <a:r>
              <a:rPr lang="en-US" b="1" dirty="0"/>
              <a:t>Refinement</a:t>
            </a:r>
            <a:endParaRPr lang="en-US" dirty="0"/>
          </a:p>
          <a:p>
            <a:r>
              <a:rPr lang="en-US" dirty="0"/>
              <a:t>A caution was added that very high percentages in small groups should be interpreted carefully because smaller sample sizes can produce unstable results.</a:t>
            </a:r>
          </a:p>
          <a:p>
            <a:r>
              <a:rPr lang="en-US" b="1" dirty="0"/>
              <a:t>Outcome</a:t>
            </a:r>
            <a:endParaRPr lang="en-US" dirty="0"/>
          </a:p>
          <a:p>
            <a:r>
              <a:rPr lang="en-US" dirty="0"/>
              <a:t>The Week 7 testing confirmed that the main analytics outputs were consistent and suitable for use in the </a:t>
            </a:r>
            <a:r>
              <a:rPr lang="en-US" dirty="0" err="1"/>
              <a:t>HealthConnect</a:t>
            </a:r>
            <a:r>
              <a:rPr lang="en-US" dirty="0"/>
              <a:t> decision-support process.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74837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71500"/>
            <a:ext cx="10515600" cy="557213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Data Analytics + Data Science Integration</a:t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28713"/>
            <a:ext cx="10515600" cy="5286375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1200" dirty="0" smtClean="0"/>
          </a:p>
          <a:p>
            <a:r>
              <a:rPr lang="en-US" sz="1600" b="1" dirty="0"/>
              <a:t>Data Analytics → Data Science</a:t>
            </a:r>
          </a:p>
          <a:p>
            <a:r>
              <a:rPr lang="en-US" sz="1600" b="1" dirty="0"/>
              <a:t>How the tracks connected</a:t>
            </a:r>
            <a:endParaRPr lang="en-US" sz="1600" dirty="0"/>
          </a:p>
          <a:p>
            <a:r>
              <a:rPr lang="en-US" sz="1600" dirty="0"/>
              <a:t>The validated Data Analytics findings helped inform the Data Science modelling work.</a:t>
            </a:r>
          </a:p>
          <a:p>
            <a:r>
              <a:rPr lang="en-US" sz="1600" dirty="0"/>
              <a:t>Key analytical findings included:</a:t>
            </a:r>
          </a:p>
          <a:p>
            <a:r>
              <a:rPr lang="en-US" sz="1600" dirty="0"/>
              <a:t>Previous no-show history was strongly associated with future no-shows.</a:t>
            </a:r>
          </a:p>
          <a:p>
            <a:r>
              <a:rPr lang="en-US" sz="1600" dirty="0"/>
              <a:t>Reminder-related patterns were identified in the appointment data.</a:t>
            </a:r>
          </a:p>
          <a:p>
            <a:r>
              <a:rPr lang="en-US" sz="1600" dirty="0"/>
              <a:t>Data Analytics testing helped identify and address an inappropriate feature assumption</a:t>
            </a:r>
            <a:r>
              <a:rPr lang="en-US" sz="1600" dirty="0" smtClean="0"/>
              <a:t>.</a:t>
            </a:r>
          </a:p>
          <a:p>
            <a:endParaRPr lang="en-US" sz="1600" dirty="0"/>
          </a:p>
          <a:p>
            <a:r>
              <a:rPr lang="en-US" sz="1600" dirty="0"/>
              <a:t>These findings contributed to the selection and interpretation of model features.</a:t>
            </a:r>
          </a:p>
          <a:p>
            <a:r>
              <a:rPr lang="en-US" sz="1600" b="1" dirty="0"/>
              <a:t>Data Science Contribution</a:t>
            </a:r>
          </a:p>
          <a:p>
            <a:r>
              <a:rPr lang="en-US" sz="1600" dirty="0"/>
              <a:t>The final Data Science component is a </a:t>
            </a:r>
            <a:r>
              <a:rPr lang="en-US" sz="1600" b="1" dirty="0"/>
              <a:t>Logistic Regression model</a:t>
            </a:r>
            <a:r>
              <a:rPr lang="en-US" sz="1600" dirty="0"/>
              <a:t> that estimates the likelihood that an appointment will result in a no-show.</a:t>
            </a:r>
          </a:p>
          <a:p>
            <a:r>
              <a:rPr lang="en-US" sz="1600" dirty="0"/>
              <a:t>The model is intended to support </a:t>
            </a:r>
            <a:r>
              <a:rPr lang="en-US" sz="1600" b="1" dirty="0"/>
              <a:t>proactive follow-up before an appointment</a:t>
            </a:r>
            <a:r>
              <a:rPr lang="en-US" sz="1600" dirty="0"/>
              <a:t>, rather than making automatic decisions about patients.</a:t>
            </a:r>
          </a:p>
          <a:p>
            <a:pPr marL="0" indent="0">
              <a:buNone/>
            </a:pPr>
            <a:endParaRPr lang="en-US" sz="1800" dirty="0" smtClean="0"/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529653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033182"/>
          </a:xfrm>
        </p:spPr>
        <p:txBody>
          <a:bodyPr/>
          <a:lstStyle/>
          <a:p>
            <a:r>
              <a:rPr lang="en-US" dirty="0"/>
              <a:t>Data Science → ML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1485900"/>
            <a:ext cx="8946541" cy="521493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Data Science provides:</a:t>
            </a:r>
          </a:p>
          <a:p>
            <a:r>
              <a:rPr lang="en-US" dirty="0"/>
              <a:t>The final model specification</a:t>
            </a:r>
          </a:p>
          <a:p>
            <a:r>
              <a:rPr lang="en-US" dirty="0"/>
              <a:t>Required preprocessing</a:t>
            </a:r>
          </a:p>
          <a:p>
            <a:r>
              <a:rPr lang="en-US" dirty="0"/>
              <a:t>Model input requirements</a:t>
            </a:r>
          </a:p>
          <a:p>
            <a:r>
              <a:rPr lang="en-US" dirty="0"/>
              <a:t>Probability output</a:t>
            </a:r>
          </a:p>
          <a:p>
            <a:r>
              <a:rPr lang="en-US" dirty="0"/>
              <a:t>Recommended </a:t>
            </a:r>
            <a:r>
              <a:rPr lang="en-US" b="1" dirty="0"/>
              <a:t>0.35 decision threshold</a:t>
            </a:r>
            <a:endParaRPr lang="en-US" dirty="0"/>
          </a:p>
          <a:p>
            <a:r>
              <a:rPr lang="en-US" dirty="0"/>
              <a:t>Data-leakage exclusions</a:t>
            </a:r>
          </a:p>
          <a:p>
            <a:r>
              <a:rPr lang="en-US" b="1" dirty="0"/>
              <a:t>Business Connection</a:t>
            </a:r>
          </a:p>
          <a:p>
            <a:r>
              <a:rPr lang="en-US" b="1" dirty="0"/>
              <a:t>Data Analytics:</a:t>
            </a:r>
            <a:r>
              <a:rPr lang="en-US" dirty="0"/>
              <a:t> What is happening?</a:t>
            </a:r>
          </a:p>
          <a:p>
            <a:r>
              <a:rPr lang="en-US" dirty="0"/>
              <a:t>↓</a:t>
            </a:r>
          </a:p>
          <a:p>
            <a:r>
              <a:rPr lang="en-US" b="1" dirty="0"/>
              <a:t>Data Science:</a:t>
            </a:r>
            <a:r>
              <a:rPr lang="en-US" dirty="0"/>
              <a:t> Can we predict which appointments may be at higher risk?</a:t>
            </a:r>
          </a:p>
          <a:p>
            <a:r>
              <a:rPr lang="en-US" dirty="0"/>
              <a:t>↓</a:t>
            </a:r>
          </a:p>
          <a:p>
            <a:r>
              <a:rPr lang="en-US" b="1" dirty="0"/>
              <a:t>ML Engineering:</a:t>
            </a:r>
            <a:r>
              <a:rPr lang="en-US" dirty="0"/>
              <a:t> How can the validated model be integrated into a usable workflow?</a:t>
            </a:r>
          </a:p>
          <a:p>
            <a:r>
              <a:rPr lang="en-US" dirty="0"/>
              <a:t>↓</a:t>
            </a:r>
          </a:p>
          <a:p>
            <a:r>
              <a:rPr lang="en-US" b="1" dirty="0" err="1"/>
              <a:t>HealthConnect</a:t>
            </a:r>
            <a:r>
              <a:rPr lang="en-US" b="1" dirty="0"/>
              <a:t>:</a:t>
            </a:r>
            <a:r>
              <a:rPr lang="en-US" dirty="0"/>
              <a:t> Support targeted follow-up before appointments.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63242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536" y="176774"/>
            <a:ext cx="9404723" cy="780490"/>
          </a:xfrm>
        </p:spPr>
        <p:txBody>
          <a:bodyPr/>
          <a:lstStyle/>
          <a:p>
            <a:r>
              <a:rPr lang="en-US" sz="2800" dirty="0" smtClean="0"/>
              <a:t>final </a:t>
            </a:r>
            <a:r>
              <a:rPr lang="en-US" sz="2800" dirty="0"/>
              <a:t>Integration Readiness — Data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0375" y="1085851"/>
            <a:ext cx="8946541" cy="5472112"/>
          </a:xfrm>
        </p:spPr>
        <p:txBody>
          <a:bodyPr>
            <a:noAutofit/>
          </a:bodyPr>
          <a:lstStyle/>
          <a:p>
            <a:r>
              <a:rPr lang="en-US" sz="1200" b="1" dirty="0"/>
              <a:t>Final Component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 err="1"/>
              <a:t>HealthConnect</a:t>
            </a:r>
            <a:r>
              <a:rPr lang="en-US" sz="1200" dirty="0"/>
              <a:t> Final Analytics &amp; Decision Support Package</a:t>
            </a:r>
          </a:p>
          <a:p>
            <a:r>
              <a:rPr lang="en-US" sz="1200" b="1" dirty="0"/>
              <a:t>Problem Addressed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Understanding and reducing missed appointments through validated data insights and decision support.</a:t>
            </a:r>
          </a:p>
          <a:p>
            <a:r>
              <a:rPr lang="en-US" sz="1200" b="1" dirty="0"/>
              <a:t>Current Status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The Power BI dashboard, KPIs, key findings and recommendations have been tested, validated and refined.</a:t>
            </a:r>
          </a:p>
          <a:p>
            <a:r>
              <a:rPr lang="en-US" sz="1200" b="1" dirty="0"/>
              <a:t>Week 7 Improvements</a:t>
            </a:r>
            <a:endParaRPr lang="en-US" sz="1200" dirty="0"/>
          </a:p>
          <a:p>
            <a:r>
              <a:rPr lang="en-US" sz="1200" dirty="0"/>
              <a:t>Validated key figures against independent Excel calculations.</a:t>
            </a:r>
          </a:p>
          <a:p>
            <a:r>
              <a:rPr lang="en-US" sz="1200" dirty="0"/>
              <a:t>Tested dashboard interactions.</a:t>
            </a:r>
          </a:p>
          <a:p>
            <a:r>
              <a:rPr lang="en-US" sz="1200" dirty="0"/>
              <a:t>Added caution around results from small groups.</a:t>
            </a:r>
          </a:p>
          <a:p>
            <a:r>
              <a:rPr lang="en-US" sz="1200" dirty="0"/>
              <a:t>Refined interpretation of important findings.</a:t>
            </a:r>
          </a:p>
          <a:p>
            <a:r>
              <a:rPr lang="en-US" sz="1200" b="1" dirty="0"/>
              <a:t>Dependencies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Data Analytics provides validated findings to </a:t>
            </a:r>
            <a:r>
              <a:rPr lang="en-US" sz="1200" b="1" dirty="0"/>
              <a:t>Data Science</a:t>
            </a:r>
            <a:r>
              <a:rPr lang="en-US" sz="1200" dirty="0"/>
              <a:t> and business insights to </a:t>
            </a:r>
            <a:r>
              <a:rPr lang="en-US" sz="1200" b="1" dirty="0"/>
              <a:t>Project Management</a:t>
            </a:r>
            <a:r>
              <a:rPr lang="en-US" sz="1200" dirty="0"/>
              <a:t>.</a:t>
            </a:r>
          </a:p>
          <a:p>
            <a:r>
              <a:rPr lang="en-US" sz="1200" b="1" dirty="0"/>
              <a:t>Output Provided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Final dashboard, validated KPIs, key </a:t>
            </a:r>
            <a:r>
              <a:rPr lang="en-US" sz="1200" dirty="0" err="1"/>
              <a:t>visualisations</a:t>
            </a:r>
            <a:r>
              <a:rPr lang="en-US" sz="1200" dirty="0"/>
              <a:t>, findings, recommendations and analytical limitations.</a:t>
            </a:r>
          </a:p>
          <a:p>
            <a:r>
              <a:rPr lang="en-US" sz="1200" b="1" dirty="0"/>
              <a:t>Evidence of Readiness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Validated Excel calculations, Power BI dashboard, testing evidence and Week 7 refinement work.</a:t>
            </a:r>
          </a:p>
          <a:p>
            <a:r>
              <a:rPr lang="en-US" sz="1200" b="1" dirty="0"/>
              <a:t>Remaining Limitation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The analytics findings show associations and should not be interpreted as proof of causation. Final end-to-end integration depends on the other HC-POD components.</a:t>
            </a: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3615534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033182"/>
          </a:xfrm>
        </p:spPr>
        <p:txBody>
          <a:bodyPr/>
          <a:lstStyle/>
          <a:p>
            <a:r>
              <a:rPr lang="en-US" dirty="0" smtClean="0"/>
              <a:t>Final integration and conclusion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1485901"/>
            <a:ext cx="8946541" cy="507206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en-US" sz="1700" dirty="0"/>
          </a:p>
          <a:p>
            <a:r>
              <a:rPr lang="en-US" b="1" dirty="0"/>
              <a:t>Data Analytics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Identified key patterns associated with missed appointments and provided validated KPIs and insights.</a:t>
            </a:r>
          </a:p>
          <a:p>
            <a:r>
              <a:rPr lang="en-US" b="1" dirty="0"/>
              <a:t>Data Science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The identified factors can support investigation of a predictive approach for identifying patients who may be at higher risk of missing appointments.</a:t>
            </a:r>
          </a:p>
          <a:p>
            <a:r>
              <a:rPr lang="en-US" b="1" dirty="0"/>
              <a:t>Business / Clinic Support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The insights can support targeted reminders, follow-up and proactive appointment management.</a:t>
            </a:r>
          </a:p>
          <a:p>
            <a:r>
              <a:rPr lang="en-US" b="1" dirty="0"/>
              <a:t>End-to-End Value</a:t>
            </a:r>
          </a:p>
          <a:p>
            <a:r>
              <a:rPr lang="en-US" b="1" dirty="0"/>
              <a:t>Data → Analysis → Insights → Predictive Support → Action</a:t>
            </a:r>
            <a:endParaRPr lang="en-US" dirty="0"/>
          </a:p>
          <a:p>
            <a:r>
              <a:rPr lang="en-US" b="1" dirty="0"/>
              <a:t>Conclusion</a:t>
            </a:r>
          </a:p>
          <a:p>
            <a:r>
              <a:rPr lang="en-US" dirty="0" err="1"/>
              <a:t>HealthConnect</a:t>
            </a:r>
            <a:r>
              <a:rPr lang="en-US" dirty="0"/>
              <a:t> can use its appointment data to better understand missed appointments, support proactive follow-up and improve appointment management.</a:t>
            </a:r>
          </a:p>
          <a:p>
            <a:r>
              <a:rPr lang="en-US" b="1" dirty="0"/>
              <a:t>Next Step:</a:t>
            </a:r>
            <a:r>
              <a:rPr lang="en-US" dirty="0"/>
              <a:t> Continue testing and validating predictive approaches </a:t>
            </a:r>
            <a:r>
              <a:rPr lang="en-US" dirty="0" smtClean="0"/>
              <a:t>before operational use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29068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61732"/>
          </a:xfrm>
        </p:spPr>
        <p:txBody>
          <a:bodyPr/>
          <a:lstStyle/>
          <a:p>
            <a:r>
              <a:rPr lang="en-US" dirty="0"/>
              <a:t>Limitations &amp; Risks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03312" y="1873115"/>
            <a:ext cx="9812338" cy="45550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Analytics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analysis identifies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associations, not causation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Some categories have smaller sample sizes, so percentages should be interpreted with caution.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Missing values were present in some fields, including distance and waiting-time information.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Science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predictive model should support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human decision-making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not make automatic decisions about patients.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Prediction performance may be less reliable for patients with limited or no previous appointment history.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waiting_time_minutes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must not be used as a predictive input because it is recorded after the appointment and creates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leakage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Overall </a:t>
            </a:r>
            <a:r>
              <a:rPr kumimoji="0" lang="en-US" altLang="en-US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HealthConnect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Solution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solution is a decision-support approach and does not replace appropriate human oversight.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Further monitoring and validation would be required before operational deployment.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82384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76020"/>
          </a:xfrm>
        </p:spPr>
        <p:txBody>
          <a:bodyPr/>
          <a:lstStyle/>
          <a:p>
            <a:r>
              <a:rPr lang="en-US" dirty="0"/>
              <a:t>HC-POD Final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1328737"/>
            <a:ext cx="8946541" cy="5329237"/>
          </a:xfrm>
        </p:spPr>
        <p:txBody>
          <a:bodyPr>
            <a:noAutofit/>
          </a:bodyPr>
          <a:lstStyle/>
          <a:p>
            <a:r>
              <a:rPr lang="en-US" sz="1600" b="1" dirty="0"/>
              <a:t>. Data Analytics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/>
              <a:t>Identifies attendance patterns, validates KPIs and provides business insights.</a:t>
            </a:r>
          </a:p>
          <a:p>
            <a:r>
              <a:rPr lang="en-US" sz="1600" dirty="0"/>
              <a:t>↓</a:t>
            </a:r>
          </a:p>
          <a:p>
            <a:r>
              <a:rPr lang="en-US" sz="1600" b="1" dirty="0"/>
              <a:t>2. Data Science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/>
              <a:t>Uses validated findings to develop a model that estimates no-show risk before the appointment.</a:t>
            </a:r>
          </a:p>
          <a:p>
            <a:r>
              <a:rPr lang="en-US" sz="1600" dirty="0"/>
              <a:t>↓</a:t>
            </a:r>
          </a:p>
          <a:p>
            <a:r>
              <a:rPr lang="en-US" sz="1600" b="1" dirty="0"/>
              <a:t>3. Machine Learning Engineering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/>
              <a:t>Prepares the model and required data-processing workflow for technical integration.</a:t>
            </a:r>
          </a:p>
          <a:p>
            <a:r>
              <a:rPr lang="en-US" sz="1600" dirty="0"/>
              <a:t>↓</a:t>
            </a:r>
          </a:p>
          <a:p>
            <a:r>
              <a:rPr lang="en-US" sz="1600" b="1" dirty="0"/>
              <a:t>4. Generative AI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/>
              <a:t>Supports administrative patient interactions using the approved </a:t>
            </a:r>
            <a:r>
              <a:rPr lang="en-US" sz="1600" dirty="0" err="1"/>
              <a:t>HealthConnect</a:t>
            </a:r>
            <a:r>
              <a:rPr lang="en-US" sz="1600" dirty="0"/>
              <a:t> Knowledge Base and defined safety boundaries.</a:t>
            </a:r>
          </a:p>
          <a:p>
            <a:r>
              <a:rPr lang="en-US" sz="1600" dirty="0"/>
              <a:t>↓</a:t>
            </a:r>
          </a:p>
          <a:p>
            <a:r>
              <a:rPr lang="en-US" sz="1600" b="1" dirty="0"/>
              <a:t>5. Project Management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/>
              <a:t>Coordinates dependencies, integration, readiness and the final project presentation.</a:t>
            </a:r>
          </a:p>
          <a:p>
            <a:pPr marL="0" indent="0">
              <a:buNone/>
            </a:pPr>
            <a:endParaRPr lang="en-US" sz="1600" dirty="0"/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4266267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/>
              <a:t>Integrated </a:t>
            </a:r>
            <a:r>
              <a:rPr lang="en-US" dirty="0" err="1"/>
              <a:t>HealthConnect</a:t>
            </a:r>
            <a:r>
              <a:rPr lang="en-US" dirty="0"/>
              <a:t>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 err="1" smtClean="0"/>
              <a:t>capacityppointment</a:t>
            </a:r>
            <a:r>
              <a:rPr lang="en-US" b="1" dirty="0" smtClean="0"/>
              <a:t> </a:t>
            </a:r>
            <a:r>
              <a:rPr lang="en-US" b="1" dirty="0"/>
              <a:t>Data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↓</a:t>
            </a:r>
            <a:br>
              <a:rPr lang="en-US" dirty="0"/>
            </a:br>
            <a:r>
              <a:rPr lang="en-US" b="1" dirty="0"/>
              <a:t>Data Analytics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Identifies patterns and key no-show factors.</a:t>
            </a:r>
            <a:br>
              <a:rPr lang="en-US" dirty="0"/>
            </a:br>
            <a:r>
              <a:rPr lang="en-US" dirty="0"/>
              <a:t>↓</a:t>
            </a:r>
            <a:br>
              <a:rPr lang="en-US" dirty="0"/>
            </a:br>
            <a:r>
              <a:rPr lang="en-US" b="1" dirty="0"/>
              <a:t>Data Science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Estimates no-show risk before the appointment.</a:t>
            </a:r>
            <a:br>
              <a:rPr lang="en-US" dirty="0"/>
            </a:br>
            <a:r>
              <a:rPr lang="en-US" dirty="0"/>
              <a:t>↓</a:t>
            </a:r>
            <a:br>
              <a:rPr lang="en-US" dirty="0"/>
            </a:br>
            <a:r>
              <a:rPr lang="en-US" b="1" dirty="0"/>
              <a:t>ML Engineering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Supports the technical workflow and model integration.</a:t>
            </a:r>
            <a:br>
              <a:rPr lang="en-US" dirty="0"/>
            </a:br>
            <a:r>
              <a:rPr lang="en-US" dirty="0"/>
              <a:t>↓</a:t>
            </a:r>
            <a:br>
              <a:rPr lang="en-US" dirty="0"/>
            </a:br>
            <a:r>
              <a:rPr lang="en-US" b="1" dirty="0"/>
              <a:t>Generative AI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Provides administrative support within approved boundaries.</a:t>
            </a:r>
            <a:br>
              <a:rPr lang="en-US" dirty="0"/>
            </a:br>
            <a:r>
              <a:rPr lang="en-US" dirty="0"/>
              <a:t>↓</a:t>
            </a:r>
            <a:br>
              <a:rPr lang="en-US" dirty="0"/>
            </a:br>
            <a:r>
              <a:rPr lang="en-US" b="1" dirty="0"/>
              <a:t>Targeted Follow-Up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Supports proactive appointment management.</a:t>
            </a:r>
          </a:p>
          <a:p>
            <a:r>
              <a:rPr lang="en-US" b="1" dirty="0"/>
              <a:t>Business Value</a:t>
            </a:r>
          </a:p>
          <a:p>
            <a:r>
              <a:rPr lang="en-US" b="1" dirty="0"/>
              <a:t>Better use of appointment data → proactive support → improved appointment management → better use of available appointment 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15605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6124" y="209831"/>
            <a:ext cx="9404723" cy="861732"/>
          </a:xfrm>
        </p:spPr>
        <p:txBody>
          <a:bodyPr/>
          <a:lstStyle/>
          <a:p>
            <a:r>
              <a:rPr lang="en-US" dirty="0"/>
              <a:t>Final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6124" y="1071563"/>
            <a:ext cx="8946541" cy="5457825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What We </a:t>
            </a:r>
            <a:r>
              <a:rPr lang="en-US" b="1" dirty="0" smtClean="0"/>
              <a:t>Learned</a:t>
            </a:r>
          </a:p>
          <a:p>
            <a:endParaRPr lang="en-US" dirty="0"/>
          </a:p>
          <a:p>
            <a:r>
              <a:rPr lang="en-US" dirty="0" err="1"/>
              <a:t>HealthConnect's</a:t>
            </a:r>
            <a:r>
              <a:rPr lang="en-US" dirty="0"/>
              <a:t> appointment data revealed important patterns associated with missed appointments, particularly booking lead time, previous no-show history and reminder status.</a:t>
            </a:r>
          </a:p>
          <a:p>
            <a:r>
              <a:rPr lang="en-US" b="1" dirty="0"/>
              <a:t>My Contribution</a:t>
            </a:r>
            <a:endParaRPr lang="en-US" dirty="0"/>
          </a:p>
          <a:p>
            <a:r>
              <a:rPr lang="en-US" dirty="0"/>
              <a:t>As part of the </a:t>
            </a:r>
            <a:r>
              <a:rPr lang="en-US" b="1" dirty="0"/>
              <a:t>Data Analytics track</a:t>
            </a:r>
            <a:r>
              <a:rPr lang="en-US" dirty="0"/>
              <a:t>, I transformed the appointment data into validated KPIs, </a:t>
            </a:r>
            <a:r>
              <a:rPr lang="en-US" dirty="0" smtClean="0"/>
              <a:t>visualizations, </a:t>
            </a:r>
            <a:r>
              <a:rPr lang="en-US" dirty="0"/>
              <a:t>business insights and recommendations that support decision-making.</a:t>
            </a:r>
          </a:p>
          <a:p>
            <a:r>
              <a:rPr lang="en-US" b="1" dirty="0"/>
              <a:t>How It Supports the Final Solution</a:t>
            </a:r>
            <a:endParaRPr lang="en-US" dirty="0"/>
          </a:p>
          <a:p>
            <a:r>
              <a:rPr lang="en-US" dirty="0"/>
              <a:t>The validated analytics findings contribute to the Data Science predictive model and help the wider HC-POD understand where proactive appointment support may be useful.</a:t>
            </a:r>
          </a:p>
          <a:p>
            <a:r>
              <a:rPr lang="en-US" b="1" dirty="0"/>
              <a:t>Key </a:t>
            </a:r>
            <a:r>
              <a:rPr lang="en-US" b="1" dirty="0" smtClean="0"/>
              <a:t>Takeaway</a:t>
            </a:r>
            <a:endParaRPr lang="en-US" b="1" dirty="0"/>
          </a:p>
          <a:p>
            <a:r>
              <a:rPr lang="en-US" b="1" dirty="0"/>
              <a:t>Data → Insights → Prediction → Action</a:t>
            </a:r>
            <a:endParaRPr lang="en-US" dirty="0"/>
          </a:p>
          <a:p>
            <a:r>
              <a:rPr lang="en-US" dirty="0" err="1"/>
              <a:t>HealthConnect</a:t>
            </a:r>
            <a:r>
              <a:rPr lang="en-US" dirty="0"/>
              <a:t> can use data and AI to support more proactive appointment management while maintaining appropriate human oversight.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104721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235</TotalTime>
  <Words>1228</Words>
  <Application>Microsoft Office PowerPoint</Application>
  <PresentationFormat>Widescreen</PresentationFormat>
  <Paragraphs>205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Arial Unicode MS</vt:lpstr>
      <vt:lpstr>Century Gothic</vt:lpstr>
      <vt:lpstr>Wingdings 3</vt:lpstr>
      <vt:lpstr>Ion</vt:lpstr>
      <vt:lpstr>HealthConnect Clinic</vt:lpstr>
      <vt:lpstr>Key KPI — Overall No-Show Rate</vt:lpstr>
      <vt:lpstr>Overall No-Show Rate</vt:lpstr>
      <vt:lpstr>Slide 1 — Overall No-Show Rate</vt:lpstr>
      <vt:lpstr>Key No-Show Patterns</vt:lpstr>
      <vt:lpstr>Previous No-Show History</vt:lpstr>
      <vt:lpstr>slide 2 — Previous No-Show History</vt:lpstr>
      <vt:lpstr>slide 3 — Booking Lead Time and Reminders</vt:lpstr>
      <vt:lpstr>slide 3 — Booking Lead Time and Reminders</vt:lpstr>
      <vt:lpstr>Slide 4 — No-Show Rate by Age Group</vt:lpstr>
      <vt:lpstr>Slide 4 — No-Show Rate by Age Group</vt:lpstr>
      <vt:lpstr>Business Insights &amp; Recommendations</vt:lpstr>
      <vt:lpstr>Week 7 → Week 8 Transition</vt:lpstr>
      <vt:lpstr>Testing &amp; Validation</vt:lpstr>
      <vt:lpstr>Data Analytics + Data Science Integration  </vt:lpstr>
      <vt:lpstr>Data Science → ML Engineering</vt:lpstr>
      <vt:lpstr>final Integration Readiness — Data Analytics</vt:lpstr>
      <vt:lpstr>Final integration and conclusion </vt:lpstr>
      <vt:lpstr>Limitations &amp; Risks</vt:lpstr>
      <vt:lpstr>HC-POD Final Integration</vt:lpstr>
      <vt:lpstr>the Integrated HealthConnect Solution</vt:lpstr>
      <vt:lpstr>Final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Windows User</cp:lastModifiedBy>
  <cp:revision>19</cp:revision>
  <dcterms:created xsi:type="dcterms:W3CDTF">2026-09-21T12:19:03Z</dcterms:created>
  <dcterms:modified xsi:type="dcterms:W3CDTF">2026-09-24T09:08:40Z</dcterms:modified>
</cp:coreProperties>
</file>